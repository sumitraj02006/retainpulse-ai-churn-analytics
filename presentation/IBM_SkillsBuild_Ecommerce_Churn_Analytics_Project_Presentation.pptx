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49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987552"/>
            <a:ext cx="7955279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AI-Powered E-Commerce</a:t>
            </a:r>
            <a:br/>
            <a:r>
              <a:t>Customer Churn Analytics &amp;</a:t>
            </a:r>
            <a:br/>
            <a:r>
              <a:t>Retention Decision Support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46120"/>
            <a:ext cx="749807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D9E2EF"/>
                </a:solidFill>
                <a:latin typeface="Aptos"/>
              </a:defRPr>
            </a:pPr>
            <a:r>
              <a:t>Predicting 90-Day Customer Inactivity Risk Using Transactional Analytics and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051560"/>
            <a:ext cx="2834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4173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Eligible customers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70992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646"/>
                </a:solidFill>
                <a:latin typeface="Aptos"/>
              </a:defRPr>
            </a:pPr>
            <a:r>
              <a:t>1,765</a:t>
            </a:r>
          </a:p>
        </p:txBody>
      </p:sp>
      <p:sp>
        <p:nvSpPr>
          <p:cNvPr id="9" name="Rectangle 8"/>
          <p:cNvSpPr/>
          <p:nvPr/>
        </p:nvSpPr>
        <p:spPr>
          <a:xfrm>
            <a:off x="8732520" y="2313432"/>
            <a:ext cx="2148840" cy="73152"/>
          </a:xfrm>
          <a:prstGeom prst="rect">
            <a:avLst/>
          </a:prstGeom>
          <a:solidFill>
            <a:srgbClr val="349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060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Future inactive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89864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646"/>
                </a:solidFill>
                <a:latin typeface="Aptos"/>
              </a:defRPr>
            </a:pPr>
            <a:r>
              <a:t>490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32520" y="3502152"/>
            <a:ext cx="2148840" cy="73152"/>
          </a:xfrm>
          <a:prstGeom prst="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379476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High-risk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087368"/>
            <a:ext cx="2011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646"/>
                </a:solidFill>
                <a:latin typeface="Aptos"/>
              </a:defRPr>
            </a:pPr>
            <a:r>
              <a:t>353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4690872"/>
            <a:ext cx="2148840" cy="73152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870448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B7C6DA"/>
                </a:solidFill>
                <a:latin typeface="Aptos"/>
              </a:defRPr>
            </a:pPr>
            <a:r>
              <a:t>IBM SkillsBuild Data Analytics &amp; AI Internship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80644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0">
                <a:solidFill>
                  <a:srgbClr val="B7C6DA"/>
                </a:solidFill>
                <a:latin typeface="Aptos"/>
              </a:defRPr>
            </a:pPr>
            <a:r>
              <a:t>Prepared by Tanmay Chawhan</a:t>
            </a:r>
            <a:br/>
            <a:r>
              <a:t>24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Project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Validated end-to-end workflow from transaction data to customer-level decision support.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21031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64008" cy="1234440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572768"/>
            <a:ext cx="1810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Raw transactions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47088"/>
            <a:ext cx="181051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541,909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417320"/>
            <a:ext cx="21031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6352" y="1417320"/>
            <a:ext cx="64008" cy="1234440"/>
          </a:xfrm>
          <a:prstGeom prst="rect">
            <a:avLst/>
          </a:prstGeom>
          <a:solidFill>
            <a:srgbClr val="349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1572768"/>
            <a:ext cx="1810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Qualified transactions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1847088"/>
            <a:ext cx="181051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392,692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417320"/>
            <a:ext cx="21031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38344" y="1417320"/>
            <a:ext cx="64008" cy="1234440"/>
          </a:xfrm>
          <a:prstGeom prst="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572768"/>
            <a:ext cx="1810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Eligible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1847088"/>
            <a:ext cx="181051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1,765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417320"/>
            <a:ext cx="21031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0336" y="1417320"/>
            <a:ext cx="64008" cy="1234440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1572768"/>
            <a:ext cx="1810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Future inactivity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1847088"/>
            <a:ext cx="181051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27.76%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4928" y="2304288"/>
            <a:ext cx="181051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080"/>
                </a:solidFill>
                <a:latin typeface="Aptos"/>
              </a:defRPr>
            </a:pPr>
            <a:r>
              <a:t>490 / 1,765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82328" y="1417320"/>
            <a:ext cx="21031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482328" y="1417320"/>
            <a:ext cx="64008" cy="1234440"/>
          </a:xfrm>
          <a:prstGeom prst="rect">
            <a:avLst/>
          </a:prstGeom>
          <a:solidFill>
            <a:srgbClr val="10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19" y="1572768"/>
            <a:ext cx="1810511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High-risk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1847088"/>
            <a:ext cx="1810511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353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2304288"/>
            <a:ext cx="1810511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080"/>
                </a:solidFill>
                <a:latin typeface="Aptos"/>
              </a:defRPr>
            </a:pPr>
            <a:r>
              <a:t>20% of eligible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2971800"/>
            <a:ext cx="5394960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081528"/>
            <a:ext cx="50657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3429000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9998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4290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Audit &amp; clean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06040" y="3429000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Validate source, duplicates, cancellations, missing customers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3959352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9998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3959352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Build customer 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06040" y="395935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Snapshot features + RFM + eligibility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489704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9998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4489704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Predict inactivity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06040" y="448970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Leakage-safe Logistic Regression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020056"/>
            <a:ext cx="38404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349998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34440" y="5020056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Prioritize 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020056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Probability → risk tier → retention context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2971800"/>
            <a:ext cx="5047488" cy="2697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3081528"/>
            <a:ext cx="471830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What makes the project reproducible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3401568"/>
            <a:ext cx="4572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Fixed 31-Aug-2011 snapshot and 90-day future window.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Explicit qualifying-purchase and eligibility rules.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Customer-level 80/20 stratified split with random_state=42.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Preprocessing contained inside the scikit-learn Pipeline.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141 automated tests and four executable notebooks.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Business Problem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Turn historical purchase activity into structured evidence for customer retention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1663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48371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646"/>
                </a:solidFill>
                <a:latin typeface="Aptos"/>
              </a:defRPr>
            </a:pPr>
            <a:r>
              <a:t>Which eligible customers show historical patterns associated with a higher likelihood of future inactivity, and how can that risk be presented in a usable decision-support workflow?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54680"/>
            <a:ext cx="4526280" cy="1115568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3" y="3264408"/>
            <a:ext cx="4233672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The project is observational: the model estimates risk and does not establish why a customer becomes inactive or guarantee that a retention action will change future behavior.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325880"/>
            <a:ext cx="5230368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1" y="1435607"/>
            <a:ext cx="4901183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1783080"/>
            <a:ext cx="45720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Validate and clean the UCI Online Retail transaction data without altering the raw source.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Construct a snapshot-based customer analytical dataset using information available on or before 31-Aug-2011.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Perform RFM and supporting behavioral analysis.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Define Churn_90D as a project-specific 90-day future-inactivity proxy.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Train and evaluate an interpretable Logistic Regression classifier.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Generate continuous inactivity probabilities and operational risk tiers.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Provide customer- and segment-level retention decision support in Streamlit.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Dataset &amp; Data Quality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Official UCI Online Retail workbook validated before customer-level analysis.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7043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Source: UCI Machine Learning Repository • Dataset 352 • DOI 10.24432/C5BW33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554480"/>
          <a:ext cx="557784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2331720"/>
              </a:tblGrid>
              <a:tr h="341141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Audit check</a:t>
                      </a:r>
                    </a:p>
                  </a:txBody>
                  <a:tcPr>
                    <a:solidFill>
                      <a:srgbClr val="1026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Verified result</a:t>
                      </a:r>
                    </a:p>
                  </a:txBody>
                  <a:tcPr>
                    <a:solidFill>
                      <a:srgbClr val="102646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Raw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541,909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Missing CustomerID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135,080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Missing Description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1,454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Exact duplicates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5,268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Cancellation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9,288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Quantity ≤ 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10,624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UnitPrice ≤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2,517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Unique invoices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25,900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Unique 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4,070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Unique customers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4,372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34114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Countries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1148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Date range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2010-12-01 to 2011-12-09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46520" y="1554480"/>
            <a:ext cx="48006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664207"/>
            <a:ext cx="44714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Cleaning logic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1938528"/>
            <a:ext cx="310896" cy="310896"/>
          </a:xfrm>
          <a:prstGeom prst="ellipse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95681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929384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Schema validation + InvoiceDate parsing</a:t>
            </a:r>
          </a:p>
        </p:txBody>
      </p:sp>
      <p:sp>
        <p:nvSpPr>
          <p:cNvPr id="13" name="Oval 12"/>
          <p:cNvSpPr/>
          <p:nvPr/>
        </p:nvSpPr>
        <p:spPr>
          <a:xfrm>
            <a:off x="6720840" y="2532888"/>
            <a:ext cx="310896" cy="310896"/>
          </a:xfrm>
          <a:prstGeom prst="ellipse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255117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523744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Normalize missing descriptions to “Unknown” for analysis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3127248"/>
            <a:ext cx="310896" cy="310896"/>
          </a:xfrm>
          <a:prstGeom prst="ellipse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14553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3118104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Remove exact duplicates from analytical data</a:t>
            </a:r>
          </a:p>
        </p:txBody>
      </p:sp>
      <p:sp>
        <p:nvSpPr>
          <p:cNvPr id="19" name="Oval 18"/>
          <p:cNvSpPr/>
          <p:nvPr/>
        </p:nvSpPr>
        <p:spPr>
          <a:xfrm>
            <a:off x="6720840" y="3721608"/>
            <a:ext cx="310896" cy="310896"/>
          </a:xfrm>
          <a:prstGeom prst="ellipse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373989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712464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Flag cancellations where InvoiceNo starts with C</a:t>
            </a:r>
          </a:p>
        </p:txBody>
      </p:sp>
      <p:sp>
        <p:nvSpPr>
          <p:cNvPr id="22" name="Oval 21"/>
          <p:cNvSpPr/>
          <p:nvPr/>
        </p:nvSpPr>
        <p:spPr>
          <a:xfrm>
            <a:off x="6720840" y="4315968"/>
            <a:ext cx="310896" cy="310896"/>
          </a:xfrm>
          <a:prstGeom prst="ellipse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33425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306824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Keep only CustomerID present, non-cancellation, Quantity &gt; 0, UnitPrice &gt; 0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910328"/>
            <a:ext cx="310896" cy="310896"/>
          </a:xfrm>
          <a:prstGeom prst="ellipse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928616"/>
            <a:ext cx="3108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901184"/>
            <a:ext cx="3703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Calculate Revenue = Quantity × UnitPrice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20840" y="5303520"/>
            <a:ext cx="4160520" cy="566928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67144" y="5413248"/>
            <a:ext cx="386791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Result: 392,692 qualifying transactions retained for customer analytics. Raw workbook remains unchanged.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49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Temporal Design &amp; Churn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The target looks forward from a fixed snapshot; predictors never use post-snapshot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10241280" cy="73152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892807"/>
            <a:ext cx="3840480" cy="402336"/>
          </a:xfrm>
          <a:prstGeom prst="round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07592"/>
            <a:ext cx="3840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65F91"/>
                </a:solidFill>
                <a:latin typeface="Aptos"/>
              </a:defRPr>
            </a:pPr>
            <a:r>
              <a:t>Observation period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4144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080"/>
                </a:solidFill>
                <a:latin typeface="Aptos"/>
              </a:defRPr>
            </a:pPr>
            <a:r>
              <a:t>01-Dec-2010 → 31-Aug-2011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1892807"/>
            <a:ext cx="3383280" cy="402336"/>
          </a:xfrm>
          <a:prstGeom prst="roundRect">
            <a:avLst/>
          </a:prstGeom>
          <a:solidFill>
            <a:srgbClr val="10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07592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02646"/>
                </a:solidFill>
                <a:latin typeface="Aptos"/>
              </a:defRPr>
            </a:pPr>
            <a:r>
              <a:t>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41448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080"/>
                </a:solidFill>
                <a:latin typeface="Aptos"/>
              </a:defRPr>
            </a:pPr>
            <a:r>
              <a:t>31-Aug-2011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892807"/>
            <a:ext cx="3017519" cy="402336"/>
          </a:xfrm>
          <a:prstGeom prst="round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07592"/>
            <a:ext cx="3017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DD872D"/>
                </a:solidFill>
                <a:latin typeface="Aptos"/>
              </a:defRPr>
            </a:pPr>
            <a:r>
              <a:t>Future label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441448"/>
            <a:ext cx="301751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647080"/>
                </a:solidFill>
                <a:latin typeface="Aptos"/>
              </a:defRPr>
            </a:pPr>
            <a:r>
              <a:t>01-Sep-2011 → 29-Nov-2011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2918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401568"/>
            <a:ext cx="48371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Customer eligibility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639312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2646"/>
                </a:solidFill>
                <a:latin typeface="Aptos"/>
              </a:defRPr>
            </a:pPr>
            <a:r>
              <a:t>Eligible customer = both conditions during the observation period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4160520"/>
            <a:ext cx="4526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At least 2 distinct qualifying invoices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At least 30 days between first and last qualifying purchase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60"/>
            <a:ext cx="448056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349998"/>
                </a:solidFill>
                <a:latin typeface="Aptos"/>
              </a:defRPr>
            </a:pPr>
            <a:r>
              <a:t>Result: 1,765 eligible customers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291840"/>
            <a:ext cx="51663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401568"/>
            <a:ext cx="48371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Churn_90D 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3931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02646"/>
                </a:solidFill>
                <a:latin typeface="Aptos"/>
              </a:defRPr>
            </a:pPr>
            <a:r>
              <a:t>No qualifying purchase in the future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187952"/>
            <a:ext cx="2240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9483E"/>
                </a:solidFill>
                <a:latin typeface="Aptos"/>
              </a:defRPr>
            </a:pPr>
            <a:r>
              <a:t>→ Churn_90D =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418795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303F"/>
                </a:solidFill>
                <a:latin typeface="Aptos"/>
              </a:defRPr>
            </a:pPr>
            <a:r>
              <a:t>At least one qualifying purchase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49884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5AAE61"/>
                </a:solidFill>
                <a:latin typeface="Aptos"/>
              </a:defRPr>
            </a:pPr>
            <a:r>
              <a:t>→ Churn_90D = 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5010912"/>
            <a:ext cx="4526280" cy="475488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92824" y="5120640"/>
            <a:ext cx="423367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The UCI dataset has no native churn label. Churn_90D is a project-defined future-inactivity proxy.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Customer Features &amp; RFM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Snapshot-based customer behavior is summarized through nine numeric features plus descriptive RFM scoring.</a:t>
            </a:r>
          </a:p>
        </p:txBody>
      </p:sp>
      <p:pic>
        <p:nvPicPr>
          <p:cNvPr id="6" name="Picture 5" descr="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25880"/>
            <a:ext cx="7040880" cy="334597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955279" y="1353312"/>
            <a:ext cx="34747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9871" y="1463040"/>
            <a:ext cx="31455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Feature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1312" y="1783080"/>
            <a:ext cx="2788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Recency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Frequency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Monetary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AvgOrderValue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UniqueProducts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TotalItems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ActiveMonths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TenureDays</a:t>
            </a:r>
          </a:p>
          <a:p>
            <a:pPr>
              <a:buChar char="•"/>
              <a:spcAft>
                <a:spcPts val="600"/>
              </a:spcAft>
              <a:defRPr sz="1200">
                <a:solidFill>
                  <a:srgbClr val="25303F"/>
                </a:solidFill>
                <a:latin typeface="Aptos"/>
              </a:defRPr>
            </a:pPr>
            <a:r>
              <a:t>PurchaseSpanDays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11312" y="4480560"/>
            <a:ext cx="23774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646"/>
                </a:solidFill>
                <a:latin typeface="Aptos"/>
              </a:defRPr>
            </a:pPr>
            <a:r>
              <a:t>RFM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1312" y="4828032"/>
            <a:ext cx="27432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R: recent is higher score</a:t>
            </a:r>
            <a:br/>
            <a:r>
              <a:t>F: more orders is higher score</a:t>
            </a:r>
            <a:br/>
            <a:r>
              <a:t>M: higher spend is higher score</a:t>
            </a:r>
            <a:br/>
            <a:r>
              <a:t>RFM_Score = R + F + M (3–15)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5687568"/>
            <a:ext cx="1371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47080"/>
                </a:solidFill>
                <a:latin typeface="Aptos"/>
              </a:defRPr>
            </a:pPr>
            <a:r>
              <a:t>Segments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5888736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080"/>
                </a:solidFill>
                <a:latin typeface="Aptos"/>
              </a:defRPr>
            </a:pPr>
            <a:r>
              <a:t>13–15 Very High • 10–12 High • 7–9 Medium • 3–6 Lower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Observed Inactivity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Historical recency, frequency, and customer-value groups show distinct observed future-inactivity rates.</a:t>
            </a:r>
          </a:p>
        </p:txBody>
      </p:sp>
      <p:pic>
        <p:nvPicPr>
          <p:cNvPr id="6" name="Picture 5" descr="freq_quart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53312"/>
            <a:ext cx="5486400" cy="259580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55080" y="132588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19672" y="1435607"/>
            <a:ext cx="47457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Observed inactivity by recency 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2880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303F"/>
                </a:solidFill>
                <a:latin typeface="Aptos"/>
              </a:defRPr>
            </a:pPr>
            <a:r>
              <a:t>≤30d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856231"/>
            <a:ext cx="320040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856231"/>
            <a:ext cx="981455" cy="20116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44200" y="1819656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02646"/>
                </a:solidFill>
                <a:latin typeface="Aptos"/>
              </a:defRPr>
            </a:pPr>
            <a:r>
              <a:t>18.4%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395728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303F"/>
                </a:solidFill>
                <a:latin typeface="Aptos"/>
              </a:defRPr>
            </a:pPr>
            <a:r>
              <a:t>31–60d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2423160"/>
            <a:ext cx="320040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06640" y="2423160"/>
            <a:ext cx="1328166" cy="20116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44200" y="2386584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02646"/>
                </a:solidFill>
                <a:latin typeface="Aptos"/>
              </a:defRPr>
            </a:pPr>
            <a:r>
              <a:t>24.9%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962656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303F"/>
                </a:solidFill>
                <a:latin typeface="Aptos"/>
              </a:defRPr>
            </a:pPr>
            <a:r>
              <a:t>61–90d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990088"/>
            <a:ext cx="320040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06640" y="2990088"/>
            <a:ext cx="1744218" cy="20116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44200" y="2953512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02646"/>
                </a:solidFill>
                <a:latin typeface="Aptos"/>
              </a:defRPr>
            </a:pPr>
            <a:r>
              <a:t>32.7%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529584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303F"/>
                </a:solidFill>
                <a:latin typeface="Aptos"/>
              </a:defRPr>
            </a:pPr>
            <a:r>
              <a:t>91–120d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3557015"/>
            <a:ext cx="320040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06640" y="3557015"/>
            <a:ext cx="2122931" cy="20116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44200" y="3520440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02646"/>
                </a:solidFill>
                <a:latin typeface="Aptos"/>
              </a:defRPr>
            </a:pPr>
            <a:r>
              <a:t>39.8%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096512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303F"/>
                </a:solidFill>
                <a:latin typeface="Aptos"/>
              </a:defRPr>
            </a:pPr>
            <a:r>
              <a:t>121–180d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06640" y="4123944"/>
            <a:ext cx="320040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06640" y="4123944"/>
            <a:ext cx="2485644" cy="20116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4087368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02646"/>
                </a:solidFill>
                <a:latin typeface="Aptos"/>
              </a:defRPr>
            </a:pPr>
            <a:r>
              <a:t>46.6%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663440"/>
            <a:ext cx="7772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303F"/>
                </a:solidFill>
                <a:latin typeface="Aptos"/>
              </a:defRPr>
            </a:pPr>
            <a:r>
              <a:t>&gt;180d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690872"/>
            <a:ext cx="3200400" cy="201168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4690872"/>
            <a:ext cx="3179064" cy="20116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744200" y="4654296"/>
            <a:ext cx="475488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102646"/>
                </a:solidFill>
                <a:latin typeface="Aptos"/>
              </a:defRPr>
            </a:pPr>
            <a:r>
              <a:t>59.6%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5870448"/>
            <a:ext cx="10561320" cy="475488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" y="5980176"/>
            <a:ext cx="1026871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Frequency quartiles: Q1 43.89%, Q2 37.87%, Q3 22.45%, Q4 6.80%. The quartiles are deterministic rank-based population groups to handle tied integer frequencies.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Machine Learning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A transparent, leakage-safe Logistic Regression pipeline predicts future inactivity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74519"/>
            <a:ext cx="1920240" cy="100584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084831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646"/>
                </a:solidFill>
                <a:latin typeface="Aptos"/>
              </a:defRPr>
            </a:pPr>
            <a:r>
              <a:t>Observation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57860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080"/>
                </a:solidFill>
                <a:latin typeface="Aptos"/>
              </a:defRPr>
            </a:pPr>
            <a:r>
              <a:t>9 numeric behavioral features</a:t>
            </a:r>
          </a:p>
        </p:txBody>
      </p:sp>
      <p:sp>
        <p:nvSpPr>
          <p:cNvPr id="10" name="Chevron 9"/>
          <p:cNvSpPr/>
          <p:nvPr/>
        </p:nvSpPr>
        <p:spPr>
          <a:xfrm>
            <a:off x="2633472" y="2340864"/>
            <a:ext cx="228600" cy="411480"/>
          </a:xfrm>
          <a:prstGeom prst="chevron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71800" y="1874519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71800" y="1874519"/>
            <a:ext cx="1920240" cy="100584"/>
          </a:xfrm>
          <a:prstGeom prst="rect">
            <a:avLst/>
          </a:prstGeom>
          <a:solidFill>
            <a:srgbClr val="349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9816" y="2084831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646"/>
                </a:solidFill>
                <a:latin typeface="Aptos"/>
              </a:defRPr>
            </a:pPr>
            <a:r>
              <a:t>Train / test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9816" y="257860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080"/>
                </a:solidFill>
                <a:latin typeface="Aptos"/>
              </a:defRPr>
            </a:pPr>
            <a:r>
              <a:t>80 / 20 • stratified • random_state=42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9472" y="2340864"/>
            <a:ext cx="228600" cy="411480"/>
          </a:xfrm>
          <a:prstGeom prst="chevron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57800" y="1874519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57800" y="1874519"/>
            <a:ext cx="1920240" cy="100584"/>
          </a:xfrm>
          <a:prstGeom prst="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85816" y="2084831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646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5816" y="257860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080"/>
                </a:solidFill>
                <a:latin typeface="Aptos"/>
              </a:defRPr>
            </a:pPr>
            <a:r>
              <a:t>StandardScaler inside Pipeline</a:t>
            </a:r>
          </a:p>
        </p:txBody>
      </p:sp>
      <p:sp>
        <p:nvSpPr>
          <p:cNvPr id="20" name="Chevron 19"/>
          <p:cNvSpPr/>
          <p:nvPr/>
        </p:nvSpPr>
        <p:spPr>
          <a:xfrm>
            <a:off x="7205472" y="2340864"/>
            <a:ext cx="228600" cy="411480"/>
          </a:xfrm>
          <a:prstGeom prst="chevron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543800" y="1874519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43800" y="1874519"/>
            <a:ext cx="1920240" cy="100584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71816" y="2084831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646"/>
                </a:solidFill>
                <a:latin typeface="Aptos"/>
              </a:defRPr>
            </a:pPr>
            <a:r>
              <a:t>Classifier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71816" y="257860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080"/>
                </a:solidFill>
                <a:latin typeface="Aptos"/>
              </a:defRPr>
            </a:pPr>
            <a:r>
              <a:t>Logistic Regression</a:t>
            </a:r>
            <a:br/>
            <a:r>
              <a:t>class_weight=balanced</a:t>
            </a:r>
          </a:p>
        </p:txBody>
      </p:sp>
      <p:sp>
        <p:nvSpPr>
          <p:cNvPr id="25" name="Chevron 24"/>
          <p:cNvSpPr/>
          <p:nvPr/>
        </p:nvSpPr>
        <p:spPr>
          <a:xfrm>
            <a:off x="9491472" y="2340864"/>
            <a:ext cx="228600" cy="411480"/>
          </a:xfrm>
          <a:prstGeom prst="chevron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29800" y="1874519"/>
            <a:ext cx="1920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874519"/>
            <a:ext cx="1920240" cy="100584"/>
          </a:xfrm>
          <a:prstGeom prst="rect">
            <a:avLst/>
          </a:prstGeom>
          <a:solidFill>
            <a:srgbClr val="10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57816" y="2084831"/>
            <a:ext cx="1664208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102646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2578608"/>
            <a:ext cx="166420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647080"/>
                </a:solidFill>
                <a:latin typeface="Aptos"/>
              </a:defRPr>
            </a:pPr>
            <a:r>
              <a:t>Probability + class</a:t>
            </a:r>
            <a:br/>
            <a:r>
              <a:t>+ interpretability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379476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" y="3904488"/>
            <a:ext cx="49743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Leakage controls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4151376"/>
            <a:ext cx="46634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No predictor uses information after 31-Aug-2011.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Churn_90D is generated only from 01-Sep-2011 to 29-Nov-2011.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CustomerID, Churn_90D, R/F/M labels, RFM_Score and RFM_Segment are excluded from X.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Preprocessing is fitted only on the training split.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3794760"/>
            <a:ext cx="49834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3904488"/>
            <a:ext cx="4654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Why Logistic Regression?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151376"/>
            <a:ext cx="4343400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Interpretable coefficients and probability output.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Reproducible baseline with modest complexity.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Supports threshold analysis and customer-level risk ranking.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Aligned with the project focus on explainable decision support.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Model Performance on the Held-Out Test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Metrics below are calculated only on the 353-customer test 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709928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64008" cy="1051560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8132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55648"/>
            <a:ext cx="1417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58.64%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79" y="1325880"/>
            <a:ext cx="1709928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79" y="1325880"/>
            <a:ext cx="64008" cy="1051560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33472" y="148132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1755648"/>
            <a:ext cx="1417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37.23%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325880"/>
            <a:ext cx="1709928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325880"/>
            <a:ext cx="64008" cy="1051560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48132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1755648"/>
            <a:ext cx="1417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71.43%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25880"/>
            <a:ext cx="1709928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64008" cy="1051560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48132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755648"/>
            <a:ext cx="1417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48.95%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1325880"/>
            <a:ext cx="1709928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1325880"/>
            <a:ext cx="64008" cy="1051560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7031" y="148132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1" y="1755648"/>
            <a:ext cx="1417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0.7063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966960" y="1325880"/>
            <a:ext cx="1709928" cy="105156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966960" y="1325880"/>
            <a:ext cx="64008" cy="1051560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31552" y="1481328"/>
            <a:ext cx="1417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PR-AUC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1552" y="1755648"/>
            <a:ext cx="1417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0.4686</a:t>
            </a:r>
          </a:p>
        </p:txBody>
      </p:sp>
      <p:pic>
        <p:nvPicPr>
          <p:cNvPr id="30" name="Picture 29" descr="churn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70048"/>
            <a:ext cx="6995160" cy="3309656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7909560" y="2697480"/>
            <a:ext cx="333756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74152" y="2807208"/>
            <a:ext cx="300837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Confusion matrix counts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246120"/>
            <a:ext cx="1097280" cy="731520"/>
          </a:xfrm>
          <a:prstGeom prst="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34107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646"/>
                </a:solidFill>
                <a:latin typeface="Aptos"/>
              </a:defRPr>
            </a:pPr>
          </a:p>
        </p:txBody>
      </p:sp>
      <p:sp>
        <p:nvSpPr>
          <p:cNvPr id="35" name="Rectangle 34"/>
          <p:cNvSpPr/>
          <p:nvPr/>
        </p:nvSpPr>
        <p:spPr>
          <a:xfrm>
            <a:off x="9326880" y="3246120"/>
            <a:ext cx="1097280" cy="731520"/>
          </a:xfrm>
          <a:prstGeom prst="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34107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646"/>
                </a:solidFill>
                <a:latin typeface="Aptos"/>
              </a:defRPr>
            </a:pPr>
            <a:r>
              <a:t>Pred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424160" y="3246120"/>
            <a:ext cx="1097280" cy="731520"/>
          </a:xfrm>
          <a:prstGeom prst="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0" y="341071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646"/>
                </a:solidFill>
                <a:latin typeface="Aptos"/>
              </a:defRPr>
            </a:pPr>
            <a:r>
              <a:t>Pred 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0" y="3977639"/>
            <a:ext cx="1097280" cy="731520"/>
          </a:xfrm>
          <a:prstGeom prst="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4142231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646"/>
                </a:solidFill>
                <a:latin typeface="Aptos"/>
              </a:defRPr>
            </a:pPr>
            <a:r>
              <a:t>True 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26880" y="3977639"/>
            <a:ext cx="1097280" cy="731520"/>
          </a:xfrm>
          <a:prstGeom prst="rect">
            <a:avLst/>
          </a:prstGeom>
          <a:solidFill>
            <a:srgbClr val="E3EEE2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26880" y="4142231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02646"/>
                </a:solidFill>
                <a:latin typeface="Aptos"/>
              </a:defRPr>
            </a:pPr>
            <a:r>
              <a:t>137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24160" y="3977639"/>
            <a:ext cx="1097280" cy="731520"/>
          </a:xfrm>
          <a:prstGeom prst="rect">
            <a:avLst/>
          </a:prstGeom>
          <a:solidFill>
            <a:srgbClr val="F9E3D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24160" y="4142231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02646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0" y="4709160"/>
            <a:ext cx="1097280" cy="731520"/>
          </a:xfrm>
          <a:prstGeom prst="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0" y="4873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2646"/>
                </a:solidFill>
                <a:latin typeface="Aptos"/>
              </a:defRPr>
            </a:pPr>
            <a:r>
              <a:t>True I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326880" y="4709160"/>
            <a:ext cx="1097280" cy="731520"/>
          </a:xfrm>
          <a:prstGeom prst="rect">
            <a:avLst/>
          </a:prstGeom>
          <a:solidFill>
            <a:srgbClr val="F9E3D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26880" y="4873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02646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424160" y="4709160"/>
            <a:ext cx="1097280" cy="731520"/>
          </a:xfrm>
          <a:prstGeom prst="rect">
            <a:avLst/>
          </a:prstGeom>
          <a:solidFill>
            <a:srgbClr val="E3EEE2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0" y="4873752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0">
                <a:solidFill>
                  <a:srgbClr val="102646"/>
                </a:solidFill>
                <a:latin typeface="Aptos"/>
              </a:defRPr>
            </a:pPr>
            <a:r>
              <a:t>70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5440680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70 / (70 + 28) = 71.43% recall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83879" y="5504688"/>
            <a:ext cx="2788920" cy="658368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30183" y="5614416"/>
            <a:ext cx="249631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The model shows useful discrimination while retaining substantial false positives. Accuracy alone is not sufficient on this imbalanced target.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Threshold Analysis &amp; Model Coefficient Associations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The application keeps the default 0.50 classifier threshold and uses continuous probability for operational risk tiers.</a:t>
            </a:r>
          </a:p>
        </p:txBody>
      </p:sp>
      <p:pic>
        <p:nvPicPr>
          <p:cNvPr id="6" name="Picture 5" descr="churn_thresh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53312"/>
            <a:ext cx="6812280" cy="3226682"/>
          </a:xfrm>
          <a:prstGeom prst="rect">
            <a:avLst/>
          </a:prstGeom>
        </p:spPr>
      </p:pic>
      <p:pic>
        <p:nvPicPr>
          <p:cNvPr id="7" name="Picture 6" descr="coeffic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44752"/>
            <a:ext cx="3977639" cy="20064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80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Selected threshold trade-off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715000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25303F"/>
                </a:solidFill>
                <a:latin typeface="Aptos"/>
              </a:defRPr>
            </a:pPr>
            <a:r>
              <a:t>At 0.50: Precision 0.3723 • Recall 0.7143 • F1 0.4895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8" y="5468112"/>
            <a:ext cx="2011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Coefficient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5742432"/>
            <a:ext cx="3886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Positive coefficients are associated with higher predicted inactivity risk; negative coefficients with lower predicted risk. Correlated behavior features limit causal interpretation.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499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Operational Risk Segmentation &amp; Retention Decision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Continuous model probabilities are converted into population-based risk tiers, then combined with historical customer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2004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64008" cy="1417320"/>
          </a:xfrm>
          <a:prstGeom prst="rect">
            <a:avLst/>
          </a:prstGeom>
          <a:solidFill>
            <a:srgbClr val="5AA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27048"/>
            <a:ext cx="2907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Low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01368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706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41448"/>
            <a:ext cx="2907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080"/>
                </a:solidFill>
                <a:latin typeface="Aptos"/>
              </a:defRPr>
            </a:pPr>
            <a:r>
              <a:t>706 customers • bottom 40%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371600"/>
            <a:ext cx="32004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60" y="1371600"/>
            <a:ext cx="64008" cy="1417320"/>
          </a:xfrm>
          <a:prstGeom prst="rect">
            <a:avLst/>
          </a:prstGeom>
          <a:solidFill>
            <a:srgbClr val="DD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1527048"/>
            <a:ext cx="2907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Medium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801368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706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441448"/>
            <a:ext cx="2907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080"/>
                </a:solidFill>
                <a:latin typeface="Aptos"/>
              </a:defRPr>
            </a:pPr>
            <a:r>
              <a:t>706 customers • 40th–80th percentile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371600"/>
            <a:ext cx="320040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1371600"/>
            <a:ext cx="64008" cy="1417320"/>
          </a:xfrm>
          <a:prstGeom prst="rect">
            <a:avLst/>
          </a:prstGeom>
          <a:solidFill>
            <a:srgbClr val="B94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912" y="1527048"/>
            <a:ext cx="290779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47080"/>
                </a:solidFill>
                <a:latin typeface="Aptos"/>
              </a:defRPr>
            </a:pPr>
            <a:r>
              <a:t>High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912" y="1801368"/>
            <a:ext cx="2907792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102646"/>
                </a:solidFill>
                <a:latin typeface="Aptos"/>
              </a:defRPr>
            </a:pPr>
            <a:r>
              <a:t>353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2441448"/>
            <a:ext cx="290779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647080"/>
                </a:solidFill>
                <a:latin typeface="Aptos"/>
              </a:defRPr>
            </a:pPr>
            <a:r>
              <a:t>353 customers • top 20%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090672"/>
            <a:ext cx="65836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200400"/>
            <a:ext cx="62544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Risk × value context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914400" y="3493008"/>
          <a:ext cx="61264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3240"/>
                <a:gridCol w="3063240"/>
              </a:tblGrid>
              <a:tr h="280851"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Risk + value context</a:t>
                      </a:r>
                    </a:p>
                  </a:txBody>
                  <a:tcPr>
                    <a:solidFill>
                      <a:srgbClr val="1026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Decision-support label</a:t>
                      </a:r>
                    </a:p>
                  </a:txBody>
                  <a:tcPr>
                    <a:solidFill>
                      <a:srgbClr val="102646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High + Very High /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Priority retention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High + Medium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Targeted attention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High + 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Lower-cost intervention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Medium + High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Monitor / targeted engagement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  <a:tr h="280851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Low + 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Relationship / loyalty 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Low + Lower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900" b="0">
                          <a:solidFill>
                            <a:srgbClr val="25303F"/>
                          </a:solidFill>
                          <a:latin typeface="Aptos"/>
                        </a:defRPr>
                      </a:pPr>
                      <a:r>
                        <a:t>Standard engagement</a:t>
                      </a:r>
                    </a:p>
                  </a:txBody>
                  <a:tcPr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543800" y="3090672"/>
            <a:ext cx="39319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08392" y="3200400"/>
            <a:ext cx="36027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Key operational metric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3611880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47080"/>
                </a:solidFill>
                <a:latin typeface="Aptos"/>
              </a:defRPr>
            </a:pPr>
            <a:r>
              <a:t>High-risk historical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91363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02646"/>
                </a:solidFill>
                <a:latin typeface="Aptos"/>
              </a:defRPr>
            </a:pPr>
            <a:r>
              <a:t>£220,990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4805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25303F"/>
                </a:solidFill>
                <a:latin typeface="Aptos"/>
              </a:defRPr>
            </a:pPr>
            <a:r>
              <a:t>4.9% of eligible-customer historical revenue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4828032"/>
            <a:ext cx="3063240" cy="694944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4" y="4937760"/>
            <a:ext cx="2770632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Risk tiers are operational segmentation rules. Retention labels are decision-support groupings, not experimentally validated intervention policies.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36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Streamlit Decision-Support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Four sections connect executive overview, customer behavior, model evaluation, and customer-level risk review.</a:t>
            </a:r>
          </a:p>
        </p:txBody>
      </p:sp>
      <p:pic>
        <p:nvPicPr>
          <p:cNvPr id="6" name="Picture 5" descr="execu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5806440" cy="2747231"/>
          </a:xfrm>
          <a:prstGeom prst="rect">
            <a:avLst/>
          </a:prstGeom>
        </p:spPr>
      </p:pic>
      <p:pic>
        <p:nvPicPr>
          <p:cNvPr id="7" name="Picture 6" descr="risk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325880"/>
            <a:ext cx="4892040" cy="232225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4864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Executive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742432"/>
            <a:ext cx="53949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KPIs • monthly revenue • RFM segments • risk distribution • country 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548640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Customer Risk Explorer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5742432"/>
            <a:ext cx="4572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Behavioral profile • RFM • probability • risk tier • retention priority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102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Key Findings, Limitations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The final system is a decision-support prototype built for transparent, reproducible customer-risk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35607"/>
            <a:ext cx="5020055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5720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27.76% of eligible customers were future-inactive under the project-defined 90-day proxy.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Observed inactivity increased across higher recency bands, from 18.4% at ≤30 days to 59.6% above 180 days.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Frequency quartile inactivity ranged from 43.89% in Q1 to 6.80% in Q4.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Higher customer-value quartiles had lower observed future-inactivity rates in this population.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The Logistic Regression model achieved ROC-AUC 0.7063 and PR-AUC 0.4686 on the held-out test set.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The dashboard operationalizes risk as continuous probability → risk tier → retention context.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0749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435607"/>
            <a:ext cx="474573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Limitations &amp;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83080"/>
            <a:ext cx="4297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Churn_90D is a project-defined future-inactivity proxy, not a native churn label.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The dataset represents one retailer and a specific historical period.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Observed associations and model coefficients do not establish causation.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Risk scores are ranking aids, not guarantees of future behavior.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Retention-priority labels are decision-support rules, not causal intervention evidence.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343400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590288"/>
            <a:ext cx="4315968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303F"/>
                </a:solidFill>
                <a:latin typeface="Aptos"/>
              </a:defRPr>
            </a:pPr>
            <a:r>
              <a:t>The project demonstrates a complete analytics-to-action workflow: clean transactions → snapshot features → future-inactivity label → interpretable ML → risk segmentation → interactive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340096"/>
            <a:ext cx="4315968" cy="420624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2824" y="5449824"/>
            <a:ext cx="4023359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Final validation: 141 automated tests passed; four notebooks validated; model artifact loads cleanly; Streamlit application is runnable.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109728"/>
          </a:xfrm>
          <a:prstGeom prst="rect">
            <a:avLst/>
          </a:prstGeom>
          <a:solidFill>
            <a:srgbClr val="647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700" b="1">
                <a:solidFill>
                  <a:srgbClr val="102646"/>
                </a:solidFill>
                <a:latin typeface="Aptos Display"/>
              </a:defRPr>
            </a:pPr>
            <a:r>
              <a:t>References &amp; Project Artifacts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080"/>
                </a:solidFill>
                <a:latin typeface="Aptos"/>
              </a:defRPr>
            </a:pPr>
            <a:r>
              <a:t>Primary sources and implemented project materials documented in the final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486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481328"/>
            <a:ext cx="515721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489204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UCI Machine Learning Repository. Online Retail. Dataset 352. DOI: 10.24432/C5BW33.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Chen, D., Sain, S. L., &amp; Guo, K. (2012). Data mining for the online retail industry: a case study of RFM model-based customer segmentation. Journal of Database Marketing &amp; Customer Strategy Management, 19(3), 197–208. DOI: 10.1057/dbm.2012.17.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scikit-learn documentation: LogisticRegression, Pipeline, StandardScaler, evaluation metrics and model-selection utilities.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Streamlit documentation: multipage applications and sidebar navigation configuration.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371600"/>
            <a:ext cx="49834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481328"/>
            <a:ext cx="4654296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2646"/>
                </a:solidFill>
                <a:latin typeface="Aptos"/>
              </a:defRPr>
            </a:pPr>
            <a:r>
              <a:t>Final artifacts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78308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Project report (.docx)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Four Jupyter notebooks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Validated processed datasets and audit outputs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Saved Logistic Regression pipeline (.joblib)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Model evaluation figures and metrics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Streamlit dashboard source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Automated tests (141 passed)</a:t>
            </a:r>
          </a:p>
          <a:p>
            <a:pPr>
              <a:buChar char="•"/>
              <a:spcAft>
                <a:spcPts val="600"/>
              </a:spcAft>
              <a:defRPr sz="1100">
                <a:solidFill>
                  <a:srgbClr val="25303F"/>
                </a:solidFill>
                <a:latin typeface="Aptos"/>
              </a:defRPr>
            </a:pPr>
            <a:r>
              <a:t>Git repository: initial commit 42b9259; latest verified commit 07fabd1 on main branch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8272" y="5193792"/>
            <a:ext cx="4297680" cy="502920"/>
          </a:xfrm>
          <a:prstGeom prst="roundRect">
            <a:avLst/>
          </a:prstGeom>
          <a:solidFill>
            <a:srgbClr val="F5F8FC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94576" y="5303520"/>
            <a:ext cx="4005072" cy="2834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47080"/>
                </a:solidFill>
                <a:latin typeface="Aptos"/>
              </a:defRPr>
            </a:pPr>
            <a:r>
              <a:t>Repository is published on GitHub and ready for internship submission packaging.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510528"/>
            <a:ext cx="11201400" cy="9144"/>
          </a:xfrm>
          <a:prstGeom prst="rect">
            <a:avLst/>
          </a:prstGeom>
          <a:solidFill>
            <a:srgbClr val="DDE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6547104"/>
            <a:ext cx="9601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80"/>
                </a:solidFill>
                <a:latin typeface="Aptos"/>
              </a:defRPr>
            </a:pPr>
            <a:r>
              <a:t>IBM SkillsBuild Data Analytics &amp; AI Internship 2026 • Tanmay Chawhan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28816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80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E-Commerce Customer Churn Analytics &amp; Retention Decision Support System</dc:title>
  <dc:subject>IBM SkillsBuild Data Analytics &amp; AI Internship 2026 project presentation</dc:subject>
  <dc:creator>Tanmay Chawhan</dc:creator>
  <cp:keywords>IBM SkillsBuild, data analytics, customer churn, RFM, logistic regression, Streamlit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